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6" r:id="rId2"/>
    <p:sldId id="260" r:id="rId3"/>
    <p:sldId id="278" r:id="rId4"/>
    <p:sldId id="257" r:id="rId5"/>
    <p:sldId id="321" r:id="rId6"/>
    <p:sldId id="326" r:id="rId7"/>
    <p:sldId id="328" r:id="rId8"/>
    <p:sldId id="322" r:id="rId9"/>
    <p:sldId id="323" r:id="rId10"/>
    <p:sldId id="324" r:id="rId11"/>
    <p:sldId id="327" r:id="rId1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877933"/>
            <a:ext cx="7772400" cy="966856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IN" sz="3200" b="1" dirty="0"/>
              <a:t>Pipeline IQ: Intelligent CI/CD Pipeline Management System</a:t>
            </a:r>
            <a:endParaRPr lang="en-US" sz="31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601039"/>
            <a:ext cx="8458200" cy="2895600"/>
          </a:xfrm>
        </p:spPr>
        <p:txBody>
          <a:bodyPr>
            <a:normAutofit fontScale="325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2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R="0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40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Roopesh                        2420030359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40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Deepthi Anusha             2420030448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4000" dirty="0" err="1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Vsyhnavi</a:t>
            </a:r>
            <a:r>
              <a:rPr lang="en-US" sz="40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2420030449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4000" dirty="0" err="1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Swaraja</a:t>
            </a:r>
            <a:r>
              <a:rPr lang="en-US" sz="40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2420090085</a:t>
            </a:r>
          </a:p>
          <a:p>
            <a:pPr marR="0" eaLnBrk="1" hangingPunct="1">
              <a:lnSpc>
                <a:spcPct val="80000"/>
              </a:lnSpc>
              <a:defRPr/>
            </a:pPr>
            <a:endParaRPr lang="en-US" sz="4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40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r">
              <a:lnSpc>
                <a:spcPct val="80000"/>
              </a:lnSpc>
              <a:defRPr/>
            </a:pP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Team Number: 11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13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33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5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K. Bhavya Varma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5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Assistant Professor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107" y="5501555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Project Flow Diagram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Objectives with Justification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03F64-1981-E3B7-E2B4-D11A4F6B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4708526"/>
          </a:xfrm>
        </p:spPr>
        <p:txBody>
          <a:bodyPr>
            <a:noAutofit/>
          </a:bodyPr>
          <a:lstStyle/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PipelineIQ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monitor and manage CI/CD pipelines.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with CI/CD platforms to collect pipeline information.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collects build results, test results, execution time, and error logs.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dashboard provides real-time pipeline information.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 pipeline executions are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possible causes.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pipeline data is used to detect recurring failures and patterns.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useful insights and troubleshooting recommendations.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reduce manual troubleshooting effort.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improve pipeline reliability and software delivery efficiency.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851-D9C0-A33B-6D40-99E6F7DCA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5240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7586B6-5276-B3E3-CFD5-8DB648A7A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PipelineIQ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CI/CD pipeline management system.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developers monitor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pipelines.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automates building, testing, and deploying software.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failures often require manual log inspection and troubleshooting.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PipelineIQ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centralized dashboard for pipeline monitoring.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tracks pipeline status, execution time, success/failure rates, and logs.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failures and identifies recurring issues and abnormal patterns.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actionable insights and recommendations to developers.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39558-3DAD-272B-5CA3-14B0A3E7E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B1E9-20DA-C5AF-B180-FACA7043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pipeline failures often require developers to manually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logs and previous executions, making troubleshooting time-consuming and inefficient.</a:t>
            </a:r>
          </a:p>
          <a:p>
            <a:pPr marL="0" indent="0"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system that can monitor pipelines, identify recurring failures,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causes, and provide actionable recommendations</a:t>
            </a:r>
            <a:r>
              <a:rPr lang="en-IN" sz="2400" dirty="0"/>
              <a:t>..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6AF5D-F740-815B-410D-F8AD0C19F9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927C-18CB-E7CD-17FE-184519BC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BF7C-4E42-3323-319A-9E8717B94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26" y="-108905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7081E8-DE44-A603-1CB8-18D017BF51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295413"/>
              </p:ext>
            </p:extLst>
          </p:nvPr>
        </p:nvGraphicFramePr>
        <p:xfrm>
          <a:off x="304800" y="1034095"/>
          <a:ext cx="8686800" cy="570672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894316245"/>
                    </a:ext>
                  </a:extLst>
                </a:gridCol>
                <a:gridCol w="2484120">
                  <a:extLst>
                    <a:ext uri="{9D8B030D-6E8A-4147-A177-3AD203B41FA5}">
                      <a16:colId xmlns:a16="http://schemas.microsoft.com/office/drawing/2014/main" val="145141909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128593973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1114890338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21961566"/>
                    </a:ext>
                  </a:extLst>
                </a:gridCol>
              </a:tblGrid>
              <a:tr h="27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No.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Research Focus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Methodology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 Contribution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Limitation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2073226842"/>
                  </a:ext>
                </a:extLst>
              </a:tr>
              <a:tr h="27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CI Build Failure Prediction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Machine Learning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Predicts build failures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Limited explanation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2151145643"/>
                  </a:ext>
                </a:extLst>
              </a:tr>
              <a:tr h="27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Historical CI Failure Analysis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 Mining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Uses historical builds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Depends on historical data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3563051584"/>
                  </a:ext>
                </a:extLst>
              </a:tr>
              <a:tr h="38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CI Failure Prediction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Deep Learning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Identifies complex failure patterns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Requires large datasets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2907242442"/>
                  </a:ext>
                </a:extLst>
              </a:tr>
              <a:tr h="38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Build Failure Classification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ML Classification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Categorizes failure types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Limited recommendations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4022754169"/>
                  </a:ext>
                </a:extLst>
              </a:tr>
              <a:tr h="38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Automated Failure Diagnosis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Failure Analysis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Identifies possible failure causes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Depends on log quality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1057290154"/>
                  </a:ext>
                </a:extLst>
              </a:tr>
              <a:tr h="38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6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Software Repository Mining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Repository Mining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Extracts development patterns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Requires repository history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2187729386"/>
                  </a:ext>
                </a:extLst>
              </a:tr>
              <a:tr h="38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7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Log-Based Failure Analysis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Log Mining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Extracts information from logs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Logs can be noisy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3231856425"/>
                  </a:ext>
                </a:extLst>
              </a:tr>
              <a:tr h="502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8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Automated Log Parsing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Log Parsing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Converts logs into structured data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Does not provide complete diagnosis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1548754366"/>
                  </a:ext>
                </a:extLst>
              </a:tr>
              <a:tr h="38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9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Log Anomaly Detection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Machine Learning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Detects unusual log patterns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False positives possible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1902225885"/>
                  </a:ext>
                </a:extLst>
              </a:tr>
              <a:tr h="38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10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Build Performance Prediction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Machine Learning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Predicts build duration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Mainly performance focused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3619350205"/>
                  </a:ext>
                </a:extLst>
              </a:tr>
              <a:tr h="502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11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Predictive Software Analytics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 Mining / ML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Predicts software-related issues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Limited to specific prediction tasks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3672796107"/>
                  </a:ext>
                </a:extLst>
              </a:tr>
              <a:tr h="38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12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AI-Based DevOps Analysis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AI/ML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Automates operational analysis</a:t>
                      </a:r>
                    </a:p>
                  </a:txBody>
                  <a:tcPr marL="35638" marR="35638" marT="17819" marB="178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Can require complex infrastructure</a:t>
                      </a:r>
                    </a:p>
                  </a:txBody>
                  <a:tcPr marL="35638" marR="35638" marT="17819" marB="17819" anchor="ctr"/>
                </a:tc>
                <a:extLst>
                  <a:ext uri="{0D108BD9-81ED-4DB2-BD59-A6C34878D82A}">
                    <a16:rowId xmlns:a16="http://schemas.microsoft.com/office/drawing/2014/main" val="344521432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1A8919B-D2F8-AD13-EF7B-0B064723F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7795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396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419E-F300-CD25-96BB-5DF77F727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Research Gap Identification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6F0C3-5A8C-B9FA-6401-98BE1504A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CI/CD research focuses on specific tasks like failure prediction and log analysis.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have limitations like needing more data or giving limited explanations.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still have to manually check logs when pipelines fail.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system is needed to monitor,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find repeated pipeline failures.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PipelineIQ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these features and gives useful troubleshooting suggestions.</a:t>
            </a:r>
          </a:p>
        </p:txBody>
      </p:sp>
    </p:spTree>
    <p:extLst>
      <p:ext uri="{BB962C8B-B14F-4D97-AF65-F5344CB8AC3E}">
        <p14:creationId xmlns:p14="http://schemas.microsoft.com/office/powerpoint/2010/main" val="236726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7678-0395-6DAC-CFB1-E2B3DAA9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E92AC0-5ACE-1D58-9D37-96B7B27D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4"/>
          </a:xfrm>
        </p:spPr>
        <p:txBody>
          <a:bodyPr>
            <a:normAutofit fontScale="92500"/>
          </a:bodyPr>
          <a:lstStyle/>
          <a:p>
            <a:pPr lvl="0"/>
            <a:r>
              <a:rPr lang="en-IN" sz="2400" dirty="0"/>
              <a:t>To monitor CI/CD pipeline executions through a centralized dashboard. </a:t>
            </a:r>
          </a:p>
          <a:p>
            <a:pPr lvl="0"/>
            <a:r>
              <a:rPr lang="en-IN" sz="2400" dirty="0"/>
              <a:t>To track pipeline status, success rate, failure rate, and execution time. </a:t>
            </a:r>
          </a:p>
          <a:p>
            <a:pPr lvl="0"/>
            <a:r>
              <a:rPr lang="en-IN" sz="2400" dirty="0"/>
              <a:t>To collect and </a:t>
            </a:r>
            <a:r>
              <a:rPr lang="en-IN" sz="2400" dirty="0" err="1"/>
              <a:t>analyze</a:t>
            </a:r>
            <a:r>
              <a:rPr lang="en-IN" sz="2400" dirty="0"/>
              <a:t> pipeline logs to identify errors and failed stages. </a:t>
            </a:r>
          </a:p>
          <a:p>
            <a:pPr lvl="0"/>
            <a:r>
              <a:rPr lang="en-IN" sz="2400" dirty="0"/>
              <a:t>To detect recurring failures and abnormal pipeline </a:t>
            </a:r>
            <a:r>
              <a:rPr lang="en-IN" sz="2400" dirty="0" err="1"/>
              <a:t>behavior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To </a:t>
            </a:r>
            <a:r>
              <a:rPr lang="en-IN" sz="2400" dirty="0" err="1"/>
              <a:t>analyze</a:t>
            </a:r>
            <a:r>
              <a:rPr lang="en-IN" sz="2400" dirty="0"/>
              <a:t> historical pipeline data for identifying patterns. </a:t>
            </a:r>
          </a:p>
          <a:p>
            <a:pPr lvl="0"/>
            <a:r>
              <a:rPr lang="en-IN" sz="2400" dirty="0"/>
              <a:t>To provide intelligent recommendations for troubleshooting pipeline failures. </a:t>
            </a:r>
          </a:p>
          <a:p>
            <a:pPr lvl="0"/>
            <a:r>
              <a:rPr lang="en-IN" sz="2400" dirty="0"/>
              <a:t>To reduce manual effort and troubleshooting time for developers. </a:t>
            </a:r>
          </a:p>
          <a:p>
            <a:pPr lvl="0"/>
            <a:r>
              <a:rPr lang="en-IN" sz="2400" dirty="0"/>
              <a:t>To improve the reliability and efficiency of CI/CD pipelines.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80AD5-163E-DB68-2056-49EE1F1D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2385-D33C-E0C3-891C-98EDDEA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7467600" cy="944562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/ Existing Methodology</a:t>
            </a:r>
            <a:br>
              <a:rPr lang="en-IN" sz="2800" b="1" dirty="0"/>
            </a:br>
            <a:endParaRPr lang="en-US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1E6E8A-A995-51F8-4B85-FB8AFDAF8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/>
              <a:t>Developer pushes code to a Git repository. </a:t>
            </a:r>
          </a:p>
          <a:p>
            <a:pPr lvl="0"/>
            <a:r>
              <a:rPr lang="en-IN" sz="2400" dirty="0"/>
              <a:t>CI/CD platform automatically starts the pipeline. </a:t>
            </a:r>
          </a:p>
          <a:p>
            <a:pPr lvl="0"/>
            <a:r>
              <a:rPr lang="en-IN" sz="2400" dirty="0"/>
              <a:t>Source code is built/compiled. </a:t>
            </a:r>
          </a:p>
          <a:p>
            <a:pPr lvl="0"/>
            <a:r>
              <a:rPr lang="en-IN" sz="2400" dirty="0"/>
              <a:t>Automated tests are executed. </a:t>
            </a:r>
          </a:p>
          <a:p>
            <a:pPr lvl="0"/>
            <a:r>
              <a:rPr lang="en-IN" sz="2400" dirty="0"/>
              <a:t>Successful code proceeds toward deployment. </a:t>
            </a:r>
          </a:p>
          <a:p>
            <a:pPr lvl="0"/>
            <a:r>
              <a:rPr lang="en-IN" sz="2400" dirty="0"/>
              <a:t>Failed pipelines generate error logs. </a:t>
            </a:r>
          </a:p>
          <a:p>
            <a:pPr lvl="0"/>
            <a:r>
              <a:rPr lang="en-IN" sz="2400" dirty="0"/>
              <a:t>Developers manually inspect the logs. </a:t>
            </a:r>
          </a:p>
          <a:p>
            <a:pPr lvl="0"/>
            <a:r>
              <a:rPr lang="en-IN" sz="2400" dirty="0"/>
              <a:t>Developers identify the failed stage and possible cause. </a:t>
            </a:r>
          </a:p>
          <a:p>
            <a:pPr lvl="0"/>
            <a:r>
              <a:rPr lang="en-IN" sz="2400" dirty="0"/>
              <a:t>Previous pipeline executions may be manually compared. </a:t>
            </a:r>
          </a:p>
          <a:p>
            <a:pPr lvl="0"/>
            <a:r>
              <a:rPr lang="en-IN" sz="2400" dirty="0"/>
              <a:t>Troubleshooting is therefore largely reactive and manual.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8133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7162800" cy="8683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0A7B1-AE81-675E-BE7D-3D5A36D1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20764"/>
            <a:ext cx="8458200" cy="5608636"/>
          </a:xfrm>
        </p:spPr>
        <p:txBody>
          <a:bodyPr>
            <a:noAutofit/>
          </a:bodyPr>
          <a:lstStyle/>
          <a:p>
            <a:pPr lvl="0"/>
            <a:r>
              <a:rPr lang="en-IN" sz="1400" b="1" dirty="0"/>
              <a:t>GitHub Integration</a:t>
            </a:r>
            <a:r>
              <a:rPr lang="en-IN" sz="1400" dirty="0"/>
              <a:t> </a:t>
            </a:r>
          </a:p>
          <a:p>
            <a:pPr lvl="1"/>
            <a:r>
              <a:rPr lang="en-IN" sz="1400" dirty="0"/>
              <a:t>Connect </a:t>
            </a:r>
            <a:r>
              <a:rPr lang="en-IN" sz="1400" dirty="0" err="1"/>
              <a:t>PipelineIQ</a:t>
            </a:r>
            <a:r>
              <a:rPr lang="en-IN" sz="1400" dirty="0"/>
              <a:t> with Git repositories and CI/CD workflows. </a:t>
            </a:r>
          </a:p>
          <a:p>
            <a:pPr lvl="0"/>
            <a:r>
              <a:rPr lang="en-IN" sz="1400" b="1" dirty="0"/>
              <a:t>Pipeline Data Collection</a:t>
            </a:r>
            <a:r>
              <a:rPr lang="en-IN" sz="1400" dirty="0"/>
              <a:t> </a:t>
            </a:r>
          </a:p>
          <a:p>
            <a:pPr lvl="1"/>
            <a:r>
              <a:rPr lang="en-IN" sz="1400" dirty="0"/>
              <a:t>Collect build, test, deployment, status, duration, and log information. </a:t>
            </a:r>
          </a:p>
          <a:p>
            <a:pPr lvl="0"/>
            <a:r>
              <a:rPr lang="en-IN" sz="1400" b="1" dirty="0"/>
              <a:t>Pipeline Monitoring</a:t>
            </a:r>
            <a:r>
              <a:rPr lang="en-IN" sz="1400" dirty="0"/>
              <a:t> </a:t>
            </a:r>
          </a:p>
          <a:p>
            <a:pPr lvl="1"/>
            <a:r>
              <a:rPr lang="en-IN" sz="1400" dirty="0"/>
              <a:t>Monitor pipeline execution and current status. </a:t>
            </a:r>
          </a:p>
          <a:p>
            <a:pPr lvl="0"/>
            <a:r>
              <a:rPr lang="en-IN" sz="1400" b="1" dirty="0"/>
              <a:t>Centralized Dashboard</a:t>
            </a:r>
            <a:r>
              <a:rPr lang="en-IN" sz="1400" dirty="0"/>
              <a:t> </a:t>
            </a:r>
          </a:p>
          <a:p>
            <a:pPr lvl="1"/>
            <a:r>
              <a:rPr lang="en-IN" sz="1400" dirty="0"/>
              <a:t>Display success rate, failure rate, execution time, and pipeline history. </a:t>
            </a:r>
          </a:p>
          <a:p>
            <a:pPr lvl="0"/>
            <a:r>
              <a:rPr lang="en-IN" sz="1400" b="1" dirty="0"/>
              <a:t>Log Analysis</a:t>
            </a:r>
            <a:r>
              <a:rPr lang="en-IN" sz="1400" dirty="0"/>
              <a:t> </a:t>
            </a:r>
          </a:p>
          <a:p>
            <a:pPr lvl="1"/>
            <a:r>
              <a:rPr lang="en-IN" sz="1400" dirty="0" err="1"/>
              <a:t>Analyze</a:t>
            </a:r>
            <a:r>
              <a:rPr lang="en-IN" sz="1400" dirty="0"/>
              <a:t> logs generated during failed pipeline executions. </a:t>
            </a:r>
          </a:p>
          <a:p>
            <a:pPr lvl="0"/>
            <a:r>
              <a:rPr lang="en-IN" sz="1400" b="1" dirty="0"/>
              <a:t>Failure Detection</a:t>
            </a:r>
            <a:r>
              <a:rPr lang="en-IN" sz="1400" dirty="0"/>
              <a:t> </a:t>
            </a:r>
          </a:p>
          <a:p>
            <a:pPr lvl="1"/>
            <a:r>
              <a:rPr lang="en-IN" sz="1400" dirty="0"/>
              <a:t>Identify failed stages and error types. </a:t>
            </a:r>
          </a:p>
          <a:p>
            <a:pPr lvl="0"/>
            <a:r>
              <a:rPr lang="en-IN" sz="1400" b="1" dirty="0"/>
              <a:t>Historical Analysis</a:t>
            </a:r>
            <a:r>
              <a:rPr lang="en-IN" sz="1400" dirty="0"/>
              <a:t> </a:t>
            </a:r>
          </a:p>
          <a:p>
            <a:pPr lvl="1"/>
            <a:r>
              <a:rPr lang="en-IN" sz="1400" dirty="0"/>
              <a:t>Compare current failures with previous pipeline executions. </a:t>
            </a:r>
          </a:p>
          <a:p>
            <a:pPr lvl="0"/>
            <a:r>
              <a:rPr lang="en-IN" sz="1400" b="1" dirty="0"/>
              <a:t>Pattern Detection</a:t>
            </a:r>
            <a:r>
              <a:rPr lang="en-IN" sz="1400" dirty="0"/>
              <a:t> </a:t>
            </a:r>
          </a:p>
          <a:p>
            <a:pPr lvl="1"/>
            <a:r>
              <a:rPr lang="en-IN" sz="1400" dirty="0"/>
              <a:t>Identify recurring failures and abnormal pipeline </a:t>
            </a:r>
            <a:r>
              <a:rPr lang="en-IN" sz="1400" dirty="0" err="1"/>
              <a:t>behavior</a:t>
            </a:r>
            <a:r>
              <a:rPr lang="en-IN" sz="1400" dirty="0"/>
              <a:t>. </a:t>
            </a:r>
          </a:p>
          <a:p>
            <a:pPr lvl="0"/>
            <a:r>
              <a:rPr lang="en-IN" sz="1400" b="1" dirty="0"/>
              <a:t>Intelligent Recommendations</a:t>
            </a:r>
            <a:r>
              <a:rPr lang="en-IN" sz="1400" dirty="0"/>
              <a:t> </a:t>
            </a:r>
          </a:p>
          <a:p>
            <a:pPr lvl="1"/>
            <a:r>
              <a:rPr lang="en-IN" sz="1400" dirty="0"/>
              <a:t>Generate possible causes and troubleshooting suggestions. </a:t>
            </a:r>
          </a:p>
          <a:p>
            <a:pPr lvl="0"/>
            <a:r>
              <a:rPr lang="en-IN" sz="1400" b="1" dirty="0"/>
              <a:t>Performance Analysis</a:t>
            </a:r>
            <a:r>
              <a:rPr lang="en-IN" sz="1400" dirty="0"/>
              <a:t> </a:t>
            </a:r>
          </a:p>
          <a:p>
            <a:pPr lvl="1"/>
            <a:r>
              <a:rPr lang="en-IN" sz="1400" dirty="0"/>
              <a:t>Track changes in pipeline execution time and reliability.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B392D-6672-9401-8EB8-2E1BA4885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1948</TotalTime>
  <Words>840</Words>
  <Application>Microsoft Office PowerPoint</Application>
  <PresentationFormat>On-screen Show (4:3)</PresentationFormat>
  <Paragraphs>165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 A Project Review Meeting    on Pipeline IQ: Intelligent CI/CD Pipeline Management System</vt:lpstr>
      <vt:lpstr>Outline of the Presentation</vt:lpstr>
      <vt:lpstr>Abstract</vt:lpstr>
      <vt:lpstr>Introduction</vt:lpstr>
      <vt:lpstr>Problem Statement </vt:lpstr>
      <vt:lpstr>Literature Survey</vt:lpstr>
      <vt:lpstr>Research Gap Identification</vt:lpstr>
      <vt:lpstr>Objectives with Justification </vt:lpstr>
      <vt:lpstr>Previous / Existing Methodology </vt:lpstr>
      <vt:lpstr>Expected Outcomes of the Proposed Work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Roopesh Chalasani</cp:lastModifiedBy>
  <cp:revision>202</cp:revision>
  <dcterms:created xsi:type="dcterms:W3CDTF">2006-08-16T00:00:00Z</dcterms:created>
  <dcterms:modified xsi:type="dcterms:W3CDTF">2026-08-19T05:18:46Z</dcterms:modified>
</cp:coreProperties>
</file>